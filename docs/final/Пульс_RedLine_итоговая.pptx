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601fb742b4edd" /><Relationship Type="http://schemas.openxmlformats.org/officeDocument/2006/relationships/extended-properties" Target="/docProps/app.xml" Id="R11632eb000804c37" /><Relationship Type="http://schemas.openxmlformats.org/officeDocument/2006/relationships/officeDocument" Target="/ppt/presentation.xml" Id="Rdde7c5aceafe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6064fc67c45ac"/>
  </p:sldMasterIdLst>
  <p:notesMasterIdLst>
    <p:notesMasterId xmlns:r="http://schemas.openxmlformats.org/officeDocument/2006/relationships" r:id="Rb220c8584ba548fd"/>
  </p:notesMasterIdLst>
  <p:sldIdLst>
    <p:sldId xmlns:r="http://schemas.openxmlformats.org/officeDocument/2006/relationships" id="256" r:id="R97d9fe89dcb04c20"/>
    <p:sldId xmlns:r="http://schemas.openxmlformats.org/officeDocument/2006/relationships" id="257" r:id="R5b1c5fd5208f4e07"/>
    <p:sldId xmlns:r="http://schemas.openxmlformats.org/officeDocument/2006/relationships" id="258" r:id="Re8af934970b74cc2"/>
    <p:sldId xmlns:r="http://schemas.openxmlformats.org/officeDocument/2006/relationships" id="259" r:id="R1422c49f7923489f"/>
    <p:sldId xmlns:r="http://schemas.openxmlformats.org/officeDocument/2006/relationships" id="260" r:id="Ra1aeb2b0354e40d2"/>
    <p:sldId xmlns:r="http://schemas.openxmlformats.org/officeDocument/2006/relationships" id="261" r:id="Rfaede58730024ec0"/>
    <p:sldId xmlns:r="http://schemas.openxmlformats.org/officeDocument/2006/relationships" id="262" r:id="R675cdf39f0fa4cea"/>
    <p:sldId xmlns:r="http://schemas.openxmlformats.org/officeDocument/2006/relationships" id="263" r:id="R7dd2c6ecaba54ef4"/>
    <p:sldId xmlns:r="http://schemas.openxmlformats.org/officeDocument/2006/relationships" id="264" r:id="R4c0ddb1d9720407f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b0c8dd27a4724" /><Relationship Type="http://schemas.openxmlformats.org/officeDocument/2006/relationships/slideMaster" Target="/ppt/slideMasters/slideMaster1.xml" Id="R1fc6064fc67c45ac" /><Relationship Type="http://schemas.openxmlformats.org/officeDocument/2006/relationships/notesMaster" Target="/ppt/notesMasters/notesMaster1.xml" Id="Rb220c8584ba548fd" /><Relationship Type="http://schemas.openxmlformats.org/officeDocument/2006/relationships/presProps" Target="/ppt/presProps.xml" Id="R04756c06b5374091" /><Relationship Type="http://schemas.openxmlformats.org/officeDocument/2006/relationships/viewProps" Target="/ppt/viewProps.xml" Id="R01ae30284dcc4e71" /><Relationship Type="http://schemas.openxmlformats.org/officeDocument/2006/relationships/tableStyles" Target="/ppt/tableStyles.xml" Id="R5ae9c33e49b1498f" /><Relationship Type="http://schemas.openxmlformats.org/officeDocument/2006/relationships/slide" Target="/ppt/slides/slide1.xml" Id="R97d9fe89dcb04c20" /><Relationship Type="http://schemas.openxmlformats.org/officeDocument/2006/relationships/slide" Target="/ppt/slides/slide2.xml" Id="R5b1c5fd5208f4e07" /><Relationship Type="http://schemas.openxmlformats.org/officeDocument/2006/relationships/slide" Target="/ppt/slides/slide3.xml" Id="Re8af934970b74cc2" /><Relationship Type="http://schemas.openxmlformats.org/officeDocument/2006/relationships/slide" Target="/ppt/slides/slide4.xml" Id="R1422c49f7923489f" /><Relationship Type="http://schemas.openxmlformats.org/officeDocument/2006/relationships/slide" Target="/ppt/slides/slide5.xml" Id="Ra1aeb2b0354e40d2" /><Relationship Type="http://schemas.openxmlformats.org/officeDocument/2006/relationships/slide" Target="/ppt/slides/slide6.xml" Id="Rfaede58730024ec0" /><Relationship Type="http://schemas.openxmlformats.org/officeDocument/2006/relationships/slide" Target="/ppt/slides/slide7.xml" Id="R675cdf39f0fa4cea" /><Relationship Type="http://schemas.openxmlformats.org/officeDocument/2006/relationships/slide" Target="/ppt/slides/slide8.xml" Id="R7dd2c6ecaba54ef4" /><Relationship Type="http://schemas.openxmlformats.org/officeDocument/2006/relationships/slide" Target="/ppt/slides/slide9.xml" Id="R4c0ddb1d972040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81492956d42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c7d3982ba40a3" /><Relationship Type="http://schemas.openxmlformats.org/officeDocument/2006/relationships/notesMaster" Target="/ppt/notesMasters/notesMaster1.xml" Id="R9a645db5ca914d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b111396194805" /><Relationship Type="http://schemas.openxmlformats.org/officeDocument/2006/relationships/notesMaster" Target="/ppt/notesMasters/notesMaster1.xml" Id="R5fbac851561941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9db44404884b32" /><Relationship Type="http://schemas.openxmlformats.org/officeDocument/2006/relationships/notesMaster" Target="/ppt/notesMasters/notesMaster1.xml" Id="R61ba722631ee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9abf4f8738495d" /><Relationship Type="http://schemas.openxmlformats.org/officeDocument/2006/relationships/notesMaster" Target="/ppt/notesMasters/notesMaster1.xml" Id="Rec58d6f78b54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3a69ea26e34b78" /><Relationship Type="http://schemas.openxmlformats.org/officeDocument/2006/relationships/notesMaster" Target="/ppt/notesMasters/notesMaster1.xml" Id="R5ccb2fef455a49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fa99c123f94e7e" /><Relationship Type="http://schemas.openxmlformats.org/officeDocument/2006/relationships/notesMaster" Target="/ppt/notesMasters/notesMaster1.xml" Id="Refeefb7f67314e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0161b47d944dda" /><Relationship Type="http://schemas.openxmlformats.org/officeDocument/2006/relationships/notesMaster" Target="/ppt/notesMasters/notesMaster1.xml" Id="R7ca2954115bb46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14b5d7b3344737" /><Relationship Type="http://schemas.openxmlformats.org/officeDocument/2006/relationships/notesMaster" Target="/ppt/notesMasters/notesMaster1.xml" Id="Rd96e855095bb4b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987ef296de490c" /><Relationship Type="http://schemas.openxmlformats.org/officeDocument/2006/relationships/notesMaster" Target="/ppt/notesMasters/notesMaster1.xml" Id="Rc59a8a1a1829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7443cdf5a4f0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616f7a7b642d2" /><Relationship Type="http://schemas.openxmlformats.org/officeDocument/2006/relationships/slideLayout" Target="/ppt/slideLayouts/slideLayout1.xml" Id="Rb4bdb5238ff3409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bdb5238ff340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54fed6aca4050" /><Relationship Type="http://schemas.openxmlformats.org/officeDocument/2006/relationships/image" Target="/ppt/media/image.png" Id="Rad99d4c58ebc49b4" /><Relationship Type="http://schemas.openxmlformats.org/officeDocument/2006/relationships/notesSlide" Target="/ppt/notesSlides/notesSlide1.xml" Id="R073e3af7e1a540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b071778ef4950" /><Relationship Type="http://schemas.openxmlformats.org/officeDocument/2006/relationships/notesSlide" Target="/ppt/notesSlides/notesSlide2.xml" Id="R8edf864de0384e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aff58010541bc" /><Relationship Type="http://schemas.openxmlformats.org/officeDocument/2006/relationships/image" Target="/ppt/media/image2.png" Id="R1f1399655acf4d7f" /><Relationship Type="http://schemas.openxmlformats.org/officeDocument/2006/relationships/notesSlide" Target="/ppt/notesSlides/notesSlide3.xml" Id="Re59ccf02e8d54a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eb43676ac4a36" /><Relationship Type="http://schemas.openxmlformats.org/officeDocument/2006/relationships/image" Target="/ppt/media/image3.png" Id="R2d33dc375bd544bc" /><Relationship Type="http://schemas.openxmlformats.org/officeDocument/2006/relationships/image" Target="/ppt/media/image4.png" Id="R1c993aa06a154e23" /><Relationship Type="http://schemas.openxmlformats.org/officeDocument/2006/relationships/notesSlide" Target="/ppt/notesSlides/notesSlide4.xml" Id="R4460eb4efe9d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2026f34c3471a" /><Relationship Type="http://schemas.openxmlformats.org/officeDocument/2006/relationships/image" Target="/ppt/media/image5.png" Id="R28cfaad26b474ca3" /><Relationship Type="http://schemas.openxmlformats.org/officeDocument/2006/relationships/notesSlide" Target="/ppt/notesSlides/notesSlide5.xml" Id="Ra6db901cf295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6ea96d0784ac2" /><Relationship Type="http://schemas.openxmlformats.org/officeDocument/2006/relationships/notesSlide" Target="/ppt/notesSlides/notesSlide6.xml" Id="R0928446bca1240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a940e3e734b2f" /><Relationship Type="http://schemas.openxmlformats.org/officeDocument/2006/relationships/notesSlide" Target="/ppt/notesSlides/notesSlide7.xml" Id="R94106739fa2f43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ca85af1134a16" /><Relationship Type="http://schemas.openxmlformats.org/officeDocument/2006/relationships/notesSlide" Target="/ppt/notesSlides/notesSlide8.xml" Id="R276044d4597349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a670c5aab4a71" /><Relationship Type="http://schemas.openxmlformats.org/officeDocument/2006/relationships/image" Target="/ppt/media/image6.png" Id="R0725287115714764" /><Relationship Type="http://schemas.openxmlformats.org/officeDocument/2006/relationships/hyperlink" Target="https://github.com/code7-8/pulse-uunit" TargetMode="External" Id="Re000c5ae3c924c10" /><Relationship Type="http://schemas.openxmlformats.org/officeDocument/2006/relationships/hyperlink" Target="https://github.com/code7-8/pulse-uunit" TargetMode="External" Id="Rb652ca3af9194c39" /><Relationship Type="http://schemas.openxmlformats.org/officeDocument/2006/relationships/notesSlide" Target="/ppt/notesSlides/notesSlide9.xml" Id="R9cd50871efa84d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B271C3-21C1-4F22-9338-3F530466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0"/>
            <a:ext cx="48097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FD"/>
          </a:solidFill>
          <a:ln xmlns:a="http://schemas.openxmlformats.org/drawingml/2006/main" w="12700">
            <a:solidFill>
              <a:srgbClr val="EDE8FD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0F664E-0297-408D-AE71-C0BB38E8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502920"/>
            <a:ext cx="343814" cy="3438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65FE9E-4177-448F-A5F3-6D5BE97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" y="612648"/>
            <a:ext cx="38039" cy="12435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FCFD2A-5F32-41A8-9363-28E2DDA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5" y="568757"/>
            <a:ext cx="38039" cy="2121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729655D-8CE7-465D-83BF-0240C95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" y="539496"/>
            <a:ext cx="38039" cy="27066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A936E92-95F7-454F-A799-4E4A5474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83387"/>
            <a:ext cx="38039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3B2ED-960A-41DC-9A7E-161E6750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30352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 b="1">
                <a:solidFill>
                  <a:srgbClr val="DCD0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D0FA"/>
                </a:solidFill>
                <a:latin typeface="Arial"/>
                <a:ea typeface="Arial"/>
                <a:cs typeface="Arial"/>
              </a:rPr>
              <a:t>Команда RedLine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254750-48DD-459D-9D2E-E6011C3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9072"/>
            <a:ext cx="6355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7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ПУЛЬС</a:t>
            </a:r>
            <a:endParaRPr sz="6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32C1C3-98ED-4A67-89DC-990D37C1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81528"/>
            <a:ext cx="6217920" cy="1033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F2EEFF"/>
                </a:solidFill>
                <a:latin typeface="Arial"/>
                <a:ea typeface="Arial"/>
                <a:cs typeface="Arial"/>
              </a:rPr>
              <a:t>Новости и мероприятия</a:t>
            </a:r>
            <a:endParaRPr sz="2800"/>
          </a:p>
          <a:p xmlns:a="http://schemas.openxmlformats.org/drawingml/2006/main">
            <a:pPr marL="0" indent="0" algn="l">
              <a:buNone/>
              <a:defRPr sz="2800" b="1">
                <a:solidFill>
                  <a:srgbClr val="F2EEFF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F2EEFF"/>
                </a:solidFill>
                <a:latin typeface="Arial"/>
                <a:ea typeface="Arial"/>
                <a:cs typeface="Arial"/>
              </a:rPr>
              <a:t>студентов УУНИТ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FF3DA2-E5FB-48DC-B34E-14B3FBE4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600760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D2C6E9"/>
                </a:solidFill>
                <a:latin typeface="Arial"/>
                <a:ea typeface="Arial"/>
                <a:cs typeface="Arial"/>
              </a:rPr>
              <a:t>Лента по интересам, обсуждения</a:t>
            </a:r>
            <a:endParaRPr sz="1700"/>
          </a:p>
          <a:p xmlns:a="http://schemas.openxmlformats.org/drawingml/2006/main">
            <a:pPr marL="0" indent="0" algn="l">
              <a:buNone/>
              <a:defRPr sz="1700" b="0">
                <a:solidFill>
                  <a:srgbClr val="D2C6E9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D2C6E9"/>
                </a:solidFill>
                <a:latin typeface="Arial"/>
                <a:ea typeface="Arial"/>
                <a:cs typeface="Arial"/>
              </a:rPr>
              <a:t>и личные чаты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5688834-B3ED-4349-B8F7-726AE0A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0550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Приложение для Android</a:t>
            </a:r>
            <a:endParaRPr sz="1000"/>
          </a:p>
        </p:txBody>
      </p:sp>
      <p:pic>
        <p:nvPicPr>
          <p:cNvPr id="15" name="Image 0">
            <a:extLst xmlns:a="http://schemas.openxmlformats.org/drawingml/2006/main">
              <a:ext uri="{FF2B5EF4-FFF2-40B4-BE49-F238E27FC236}">
                <a16:creationId xmlns:a16="http://schemas.microsoft.com/office/drawing/2014/main" id="{7B3D24D4-5BC2-4574-9409-0F7848D06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d4c58ebc49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457200"/>
            <a:ext cx="2667000" cy="5926665"/>
          </a:xfrm>
          <a:prstGeom xmlns:a="http://schemas.openxmlformats.org/drawingml/2006/main" prst="roundRect">
            <a:avLst>
              <a:gd name="adj" fmla="val 6429"/>
            </a:avLst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2E4ABC-8FB2-40B6-9190-8959492A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712" y="6464808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07397"/>
                </a:solidFill>
                <a:latin typeface="Arial"/>
                <a:ea typeface="Arial"/>
                <a:cs typeface="Arial"/>
              </a:rPr>
              <a:t>01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65732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548F03-6362-4C61-ADE1-01C68F1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7B51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A134EFA-0A97-4D98-8BAD-A689DAC7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DA5BA"/>
                </a:solidFill>
                <a:latin typeface="Arial"/>
                <a:ea typeface="Arial"/>
                <a:cs typeface="Arial"/>
              </a:rPr>
              <a:t>02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DEF9DBF-665C-4000-80EA-21FDC7FE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04672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Информация о событии в разных чатах</a:t>
            </a:r>
            <a:endParaRPr sz="3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6493007-A31E-4CB0-A93E-2D727C7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72768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Анонс, условия участия и обсуждение приходится искать отдельно.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FE2C73-BCB9-4C2C-B522-F2947FA4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21992"/>
            <a:ext cx="31089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7AD7280-9B93-459E-B706-9058D0E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597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2700">
            <a:solidFill>
              <a:srgbClr val="EEE8F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E719C0-2EF1-4687-813E-1A78B8E5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532888"/>
            <a:ext cx="219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01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9CC9BD9-DEEF-461D-BA47-69940B2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2441448"/>
            <a:ext cx="220370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Анонс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5BC39D-DCDD-4D22-9AD8-71ABD528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2907792"/>
            <a:ext cx="217627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777086"/>
                </a:solidFill>
                <a:latin typeface="Arial"/>
                <a:ea typeface="Arial"/>
                <a:cs typeface="Arial"/>
              </a:rPr>
              <a:t>В одном чате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F49E646-A17C-439F-930E-E9355458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871216"/>
            <a:ext cx="31089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952EF72-71DE-4BD4-BC71-928C05BD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2700">
            <a:solidFill>
              <a:srgbClr val="EEE8F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5D0B1C7-5A50-4FC7-9CBC-4CB497C2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182112"/>
            <a:ext cx="219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02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355BFAA-8EBB-4796-8A9B-787D6B64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090672"/>
            <a:ext cx="220370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Место и время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F08B89B-A0B0-4B3C-9401-1741FED3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57016"/>
            <a:ext cx="217627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777086"/>
                </a:solidFill>
                <a:latin typeface="Arial"/>
                <a:ea typeface="Arial"/>
                <a:cs typeface="Arial"/>
              </a:rPr>
              <a:t>В отдельном посте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1F87A38-CF29-4AC1-B68A-E226D59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221992"/>
            <a:ext cx="31089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58C7AE8-BDC9-45E7-B98F-69A9FAB2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24597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2700">
            <a:solidFill>
              <a:srgbClr val="EEE8F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B2A3B7F-F2EC-4174-A7CB-F1573E66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532888"/>
            <a:ext cx="2194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03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E9D580B-CB9E-47FE-880D-A0624883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441448"/>
            <a:ext cx="220370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Обсуждение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877FFE-08A3-4D75-B3CA-4FB693F8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907792"/>
            <a:ext cx="217627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777086"/>
                </a:solidFill>
                <a:latin typeface="Arial"/>
                <a:ea typeface="Arial"/>
                <a:cs typeface="Arial"/>
              </a:rPr>
              <a:t>В переписке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B54CAE7-C845-4039-B689-1A2986F5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657600"/>
            <a:ext cx="3054096" cy="740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9B8F1"/>
            </a:solidFill>
            <a:prstDash val="solid"/>
            <a:headEnd type="none"/>
            <a:tailEnd type="non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431CA56-EE60-4086-BE5C-C0AEE3F9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4114800"/>
            <a:ext cx="0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9B8F1"/>
            </a:solidFill>
            <a:prstDash val="solid"/>
            <a:headEnd type="none"/>
            <a:tailEnd type="non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F9A620-5790-4B4A-A4BC-5769C43A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40680" y="3611880"/>
            <a:ext cx="288036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9B8F1"/>
            </a:solidFill>
            <a:prstDash val="solid"/>
            <a:headEnd type="none"/>
            <a:tailEnd type="non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0D3F5AF-3BCE-4A1E-BCCF-11D990A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370832"/>
            <a:ext cx="8156448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143D"/>
          </a:solidFill>
          <a:ln xmlns:a="http://schemas.openxmlformats.org/drawingml/2006/main" w="10160">
            <a:solidFill>
              <a:srgbClr val="21143D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E2C17CC-8F2C-4A08-B8C9-6497ABB4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4818888"/>
            <a:ext cx="494233" cy="4942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B359070-DC9B-49BB-8AA7-DEC69AFE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00" y="4976622"/>
            <a:ext cx="54681" cy="1787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0724FBF-AB57-4154-A8AF-D530717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24" y="4913528"/>
            <a:ext cx="54681" cy="304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4223D7C-867A-4C67-B038-71FF9D53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649" y="4871466"/>
            <a:ext cx="54681" cy="38907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574E8C5-C21C-4E53-9BCE-91091E86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774" y="4934560"/>
            <a:ext cx="54681" cy="2628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3C52B92-9E5F-40E4-A2FD-7566202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4608576"/>
            <a:ext cx="672998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Событие в «Пульсе»</a:t>
            </a:r>
            <a:endParaRPr sz="2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C9C27EB-10E4-40C8-92DF-4DD7F843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75504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D6C9E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D6C9EF"/>
                </a:solidFill>
                <a:latin typeface="Arial"/>
                <a:ea typeface="Arial"/>
                <a:cs typeface="Arial"/>
              </a:rPr>
              <a:t>Время и место, фотографии, участники и комментарии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80798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73C13D-52E1-4734-877A-4DBE8F05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7B51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DDDB488-6BAE-4FE8-95E7-3388D320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DA5BA"/>
                </a:solidFill>
                <a:latin typeface="Arial"/>
                <a:ea typeface="Arial"/>
                <a:cs typeface="Arial"/>
              </a:rPr>
              <a:t>03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917246-EAB3-4CF3-A46B-05F4540E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04672"/>
            <a:ext cx="7498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Мероприятие в приложении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4CC881-55A0-44DA-8518-A3B824B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72768"/>
            <a:ext cx="7132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Пример: разбор резюме к первой стажировке</a:t>
            </a:r>
            <a:endParaRPr sz="1600"/>
          </a:p>
        </p:txBody>
      </p:sp>
      <p:pic>
        <p:nvPicPr>
          <p:cNvPr id="7" name="Image 0">
            <a:extLst xmlns:a="http://schemas.openxmlformats.org/drawingml/2006/main">
              <a:ext uri="{FF2B5EF4-FFF2-40B4-BE49-F238E27FC236}">
                <a16:creationId xmlns:a16="http://schemas.microsoft.com/office/drawing/2014/main" id="{526CB5CA-5AB1-4B0E-98FF-06A144B1A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399655acf4d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333500"/>
            <a:ext cx="2238375" cy="4974165"/>
          </a:xfrm>
          <a:prstGeom xmlns:a="http://schemas.openxmlformats.org/drawingml/2006/main" prst="roundRect">
            <a:avLst>
              <a:gd name="adj" fmla="val 7660"/>
            </a:avLst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910C36F-2E37-4E2A-9E33-95140230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8528"/>
            <a:ext cx="576072" cy="576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C"/>
          </a:solidFill>
          <a:ln xmlns:a="http://schemas.openxmlformats.org/drawingml/2006/main" w="12700">
            <a:solidFill>
              <a:srgbClr val="EAE3F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72ADC-0CD4-458A-A9AF-92FF46C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103120"/>
            <a:ext cx="3291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01</a:t>
            </a:r>
            <a:endParaRPr sz="1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66A821B-A6F6-414A-9FB4-E6ECA573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20240"/>
            <a:ext cx="519379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Условия участия</a:t>
            </a:r>
            <a:endParaRPr sz="2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196B5B0-3CF5-4CA7-B7C8-447B4B9D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2404872"/>
            <a:ext cx="51937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3F3557"/>
                </a:solidFill>
                <a:latin typeface="Arial"/>
                <a:ea typeface="Arial"/>
                <a:cs typeface="Arial"/>
              </a:rPr>
              <a:t>Описание, фотографии, дата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3F3557"/>
                </a:solidFill>
                <a:latin typeface="Arial"/>
                <a:ea typeface="Arial"/>
                <a:cs typeface="Arial"/>
              </a:rPr>
              <a:t>и место проведения</a:t>
            </a:r>
            <a:endParaRPr sz="16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DCCA685-6506-4E5D-A5CA-62F5EE7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3008376"/>
            <a:ext cx="53675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8E2F3"/>
            </a:solidFill>
            <a:prstDash val="solid"/>
            <a:headEnd type="none"/>
            <a:tailEnd type="non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45316A7-0089-4DA4-B90C-7736578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3552"/>
            <a:ext cx="576072" cy="576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C"/>
          </a:solidFill>
          <a:ln xmlns:a="http://schemas.openxmlformats.org/drawingml/2006/main" w="12700">
            <a:solidFill>
              <a:srgbClr val="EAE3FC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2859E46-EE4C-46EB-8EE1-0F6A159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438144"/>
            <a:ext cx="3291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02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0F500CD-BEBC-4A78-95AA-18A59B3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55264"/>
            <a:ext cx="519379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Обсуждение</a:t>
            </a:r>
            <a:endParaRPr sz="2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C43EEF9-64F2-4E00-96E5-98DFE344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3739896"/>
            <a:ext cx="51937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3F3557"/>
                </a:solidFill>
                <a:latin typeface="Arial"/>
                <a:ea typeface="Arial"/>
                <a:cs typeface="Arial"/>
              </a:rPr>
              <a:t>Вопросы в комментариях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3F3557"/>
                </a:solidFill>
                <a:latin typeface="Arial"/>
                <a:ea typeface="Arial"/>
                <a:cs typeface="Arial"/>
              </a:rPr>
              <a:t>и ответы в ветках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66729DF-84F8-4A23-8593-60F52FD1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4343400"/>
            <a:ext cx="53675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8E2F3"/>
            </a:solidFill>
            <a:prstDash val="solid"/>
            <a:headEnd type="none"/>
            <a:tailEnd type="non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5FC819E-D6AC-4E03-95B6-726287A0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8576"/>
            <a:ext cx="576072" cy="576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3FC"/>
          </a:solidFill>
          <a:ln xmlns:a="http://schemas.openxmlformats.org/drawingml/2006/main" w="12700">
            <a:solidFill>
              <a:srgbClr val="EAE3F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6665E58-EF77-4DE7-BEBA-6FF92BAD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773168"/>
            <a:ext cx="3291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2FDC1E1-DA93-4659-B11F-0DD2F67F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90288"/>
            <a:ext cx="519379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Участники</a:t>
            </a:r>
            <a:endParaRPr sz="2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B9CE62F-7F8B-429D-A08F-61715B62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5074920"/>
            <a:ext cx="51937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3F3557"/>
                </a:solidFill>
                <a:latin typeface="Arial"/>
                <a:ea typeface="Arial"/>
                <a:cs typeface="Arial"/>
              </a:rPr>
              <a:t>Отметка «Буду участвовать»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3F3557"/>
                </a:solidFill>
                <a:latin typeface="Arial"/>
                <a:ea typeface="Arial"/>
                <a:cs typeface="Arial"/>
              </a:rPr>
              <a:t>и события, куда идут друзья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67223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252580-CD4E-4B7E-87B2-4D84B3D8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7B51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AA15A80-3F8E-4578-8C1F-47E64F08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DA5BA"/>
                </a:solidFill>
                <a:latin typeface="Arial"/>
                <a:ea typeface="Arial"/>
                <a:cs typeface="Arial"/>
              </a:rPr>
              <a:t>04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D60DBA-2B02-4ECB-8A2F-8878FB5E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04672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Подписки и общение</a:t>
            </a:r>
            <a:endParaRPr sz="3100"/>
          </a:p>
        </p:txBody>
      </p:sp>
      <p:pic>
        <p:nvPicPr>
          <p:cNvPr id="7" name="Image 0">
            <a:extLst xmlns:a="http://schemas.openxmlformats.org/drawingml/2006/main">
              <a:ext uri="{FF2B5EF4-FFF2-40B4-BE49-F238E27FC236}">
                <a16:creationId xmlns:a16="http://schemas.microsoft.com/office/drawing/2014/main" id="{DDE99EFC-0121-4C65-AE55-330B962228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3dc375bd544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009775"/>
            <a:ext cx="1809750" cy="4021665"/>
          </a:xfrm>
          <a:prstGeom xmlns:a="http://schemas.openxmlformats.org/drawingml/2006/main" prst="roundRect">
            <a:avLst>
              <a:gd name="adj" fmla="val 9474"/>
            </a:avLst>
          </a:prstGeom>
        </p:spPr>
      </p:pic>
      <p:pic>
        <p:nvPicPr>
          <p:cNvPr id="8" name="Image 1">
            <a:extLst xmlns:a="http://schemas.openxmlformats.org/drawingml/2006/main">
              <a:ext uri="{FF2B5EF4-FFF2-40B4-BE49-F238E27FC236}">
                <a16:creationId xmlns:a16="http://schemas.microsoft.com/office/drawing/2014/main" id="{DE555F6C-C901-4FFD-8FC3-0F0C24221D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93aa06a154e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9400" y="2009775"/>
            <a:ext cx="1809750" cy="4021665"/>
          </a:xfrm>
          <a:prstGeom xmlns:a="http://schemas.openxmlformats.org/drawingml/2006/main" prst="roundRect">
            <a:avLst>
              <a:gd name="adj" fmla="val 9474"/>
            </a:avLst>
          </a:prstGeom>
        </p:spPr>
      </p:pic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88B5C0B-B20B-4077-9F57-AA980FAB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1956816"/>
            <a:ext cx="62179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9ECD82D-1EE3-451F-BCA7-97E92FAB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214884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01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E48768C-201F-4DBE-9F0A-1C97CD2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075688"/>
            <a:ext cx="49286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Темы и авторы</a:t>
            </a:r>
            <a:endParaRPr sz="19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0D0B73B-917E-441E-910A-C9803D6B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496312"/>
            <a:ext cx="5074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Лента выбранных тем</a:t>
            </a:r>
            <a:endParaRPr sz="138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и авторов</a:t>
            </a:r>
            <a:endParaRPr sz="138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10993CA-B550-4E55-8A0D-F5EB34F1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3282696"/>
            <a:ext cx="62179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088EDDE-85CB-4CBD-9ED2-E2D1922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347472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02</a:t>
            </a:r>
            <a:endParaRPr sz="15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36DC8DC-5BE2-499B-B553-0DF84B70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401568"/>
            <a:ext cx="49286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Друзья</a:t>
            </a:r>
            <a:endParaRPr sz="1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7CE6B14-6598-4CC8-90C5-368042DB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822192"/>
            <a:ext cx="5074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Заявки и события,</a:t>
            </a:r>
            <a:endParaRPr sz="138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на которые идут друзья</a:t>
            </a:r>
            <a:endParaRPr sz="138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A7AD332-EC67-4296-95E9-62DF8EC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4608576"/>
            <a:ext cx="62179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92777A4-9612-437D-97CC-D3D40D63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48006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03</a:t>
            </a:r>
            <a:endParaRPr sz="15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961E17F-5ADF-48C8-8556-0513047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4727448"/>
            <a:ext cx="49286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Общение</a:t>
            </a:r>
            <a:endParaRPr sz="19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FF54F9E-EC8E-4D20-9087-5D5603C2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5148072"/>
            <a:ext cx="50749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Комментарии с ответами,</a:t>
            </a:r>
            <a:endParaRPr sz="138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чаты с фотографиями</a:t>
            </a:r>
            <a:endParaRPr sz="138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77659B2-A7D8-43E6-8D7F-CC56C15E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6126480"/>
            <a:ext cx="5989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25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Цветовые темы и тёмный режим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54894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05773F-F5AA-41B3-B074-D8F6E8A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C7B8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370BF99-2165-4D4F-840A-3A1B8C02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C0B3E0"/>
                </a:solidFill>
                <a:latin typeface="Arial"/>
                <a:ea typeface="Arial"/>
                <a:cs typeface="Arial"/>
              </a:rPr>
              <a:t>05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FA55D5-6D95-473B-A63F-B77036CA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32104"/>
            <a:ext cx="109728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Предварительная проверка ИИ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3DD951-33D3-46F1-87E3-57C5475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45336"/>
            <a:ext cx="10698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 b="0">
                <a:solidFill>
                  <a:srgbClr val="D3C6E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3C6EE"/>
                </a:solidFill>
                <a:latin typeface="Arial"/>
                <a:ea typeface="Arial"/>
                <a:cs typeface="Arial"/>
              </a:rPr>
              <a:t>Публикация появляется в ленте после решения модератора.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2A36ABC-C7D5-41CC-B3FF-94831BC2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39696"/>
            <a:ext cx="3337560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2153"/>
          </a:solidFill>
          <a:ln xmlns:a="http://schemas.openxmlformats.org/drawingml/2006/main" w="10160">
            <a:solidFill>
              <a:srgbClr val="57437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C69CD59-37A3-451B-A26A-8E5827A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59152"/>
            <a:ext cx="411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EA7FC"/>
                </a:solidFill>
                <a:latin typeface="Arial"/>
                <a:ea typeface="Arial"/>
                <a:cs typeface="Arial"/>
              </a:rPr>
              <a:t>01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461D83-309A-4848-A4AB-9FBF797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295144"/>
            <a:ext cx="24414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Автор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922B82-B212-4438-8D72-B6259E4D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52928"/>
            <a:ext cx="28437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D6F4"/>
                </a:solidFill>
                <a:latin typeface="Arial"/>
                <a:ea typeface="Arial"/>
                <a:cs typeface="Arial"/>
              </a:rPr>
              <a:t>Отправляет</a:t>
            </a:r>
            <a:endParaRPr sz="1400"/>
          </a:p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D6F4"/>
                </a:solidFill>
                <a:latin typeface="Arial"/>
                <a:ea typeface="Arial"/>
                <a:cs typeface="Arial"/>
              </a:rPr>
              <a:t>текст и до 6 фото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2591416-BFB7-4B5E-8A97-E0000F7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633472"/>
            <a:ext cx="2926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AA8CFA"/>
                </a:solidFill>
                <a:latin typeface="Arial"/>
                <a:ea typeface="Arial"/>
                <a:cs typeface="Arial"/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5FE012D-E15F-4796-AA6C-9CEDF661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39696"/>
            <a:ext cx="3337560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2153"/>
          </a:solidFill>
          <a:ln xmlns:a="http://schemas.openxmlformats.org/drawingml/2006/main" w="10160">
            <a:solidFill>
              <a:srgbClr val="57437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24A843-E779-48DE-9676-1EAB1CDB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9152"/>
            <a:ext cx="411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EA7FC"/>
                </a:solidFill>
                <a:latin typeface="Arial"/>
                <a:ea typeface="Arial"/>
                <a:cs typeface="Arial"/>
              </a:rPr>
              <a:t>02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FC3DB6A-5343-4327-BBC2-8674B781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295144"/>
            <a:ext cx="24414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DeepSeek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D8C655-C8BB-4F9B-A06C-6C872E9F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852928"/>
            <a:ext cx="28437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DFD6F4"/>
                </a:solidFill>
                <a:latin typeface="Arial"/>
                <a:ea typeface="Arial"/>
                <a:cs typeface="Arial"/>
              </a:rPr>
              <a:t>Проверяет текст и фото.</a:t>
            </a:r>
            <a:endParaRPr sz="1400"/>
          </a:p>
          <a:p xmlns:a="http://schemas.openxmlformats.org/drawingml/2006/main">
            <a:pPr marL="0" indent="0" algn="l">
              <a:buNone/>
              <a:defRPr sz="14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DFD6F4"/>
                </a:solidFill>
                <a:latin typeface="Arial"/>
                <a:ea typeface="Arial"/>
                <a:cs typeface="Arial"/>
              </a:rPr>
              <a:t>Возвращает замечания.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16520EC-70E5-4E9D-AC46-4AC5ED4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33472"/>
            <a:ext cx="2926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AA8CFA"/>
                </a:solidFill>
                <a:latin typeface="Arial"/>
                <a:ea typeface="Arial"/>
                <a:cs typeface="Arial"/>
              </a:rPr>
              <a:t>→</a:t>
            </a:r>
            <a:endParaRPr sz="2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BB57EC3-D11B-4830-9737-254D86A0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139696"/>
            <a:ext cx="3337560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2153"/>
          </a:solidFill>
          <a:ln xmlns:a="http://schemas.openxmlformats.org/drawingml/2006/main" w="10160">
            <a:solidFill>
              <a:srgbClr val="57437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F9561E0-79E2-4240-AD29-70550B1A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359152"/>
            <a:ext cx="411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EA7FC"/>
                </a:solidFill>
                <a:latin typeface="Arial"/>
                <a:ea typeface="Arial"/>
                <a:cs typeface="Arial"/>
              </a:rPr>
              <a:t>03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A96B1B-367E-4447-8309-D4B4041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295144"/>
            <a:ext cx="24414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Модератор</a:t>
            </a:r>
            <a:endParaRPr sz="2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9D067EB-1E00-4DD7-9D3F-F736750F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852928"/>
            <a:ext cx="28437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D6F4"/>
                </a:solidFill>
                <a:latin typeface="Arial"/>
                <a:ea typeface="Arial"/>
                <a:cs typeface="Arial"/>
              </a:rPr>
              <a:t>Одобряет, возвращает</a:t>
            </a:r>
            <a:endParaRPr sz="1400"/>
          </a:p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D6F4"/>
                </a:solidFill>
                <a:latin typeface="Arial"/>
                <a:ea typeface="Arial"/>
                <a:cs typeface="Arial"/>
              </a:rPr>
              <a:t>или отклоняет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DE2C19B-708F-4CAC-813F-A01C94E1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995928"/>
            <a:ext cx="6675120" cy="18470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8FD"/>
          </a:solidFill>
          <a:ln xmlns:a="http://schemas.openxmlformats.org/drawingml/2006/main" w="10160">
            <a:solidFill>
              <a:srgbClr val="EEE8F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7034F6-3900-4F94-ACBC-E7F98D68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8"/>
            <a:ext cx="6153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Проверка в приложении</a:t>
            </a:r>
            <a:endParaRPr sz="1400"/>
          </a:p>
        </p:txBody>
      </p:sp>
      <p:pic>
        <p:nvPicPr>
          <p:cNvPr id="23" name="Image 0">
            <a:extLst xmlns:a="http://schemas.openxmlformats.org/drawingml/2006/main">
              <a:ext uri="{FF2B5EF4-FFF2-40B4-BE49-F238E27FC236}">
                <a16:creationId xmlns:a16="http://schemas.microsoft.com/office/drawing/2014/main" id="{CC04C591-B233-45E2-AB11-2C45089FA1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faad26b474c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112" y="4471416"/>
            <a:ext cx="3703320" cy="1344168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01652B2-A0C3-4DDC-9FE8-6DBDF010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617720"/>
            <a:ext cx="2103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DeepSeek</a:t>
            </a:r>
            <a:endParaRPr sz="1600"/>
          </a:p>
          <a:p xmlns:a="http://schemas.openxmlformats.org/drawingml/2006/main">
            <a:pPr marL="0" indent="0" algn="l">
              <a:buNone/>
              <a:defRPr sz="16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через OpenRouter</a:t>
            </a:r>
            <a:endParaRPr sz="16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ED68535-50E9-4EBB-ADF0-2D6BD749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3995928"/>
            <a:ext cx="3749040" cy="18470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52153"/>
          </a:solidFill>
          <a:ln xmlns:a="http://schemas.openxmlformats.org/drawingml/2006/main" w="10160">
            <a:solidFill>
              <a:srgbClr val="57437A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2F99F8B-B010-46FE-ADA9-323EB498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288536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Автор видит причину</a:t>
            </a:r>
            <a:endParaRPr sz="1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099C2E7-E420-44A7-AD11-29367780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782312"/>
            <a:ext cx="3026664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DFD6F4"/>
                </a:solidFill>
                <a:latin typeface="Arial"/>
                <a:ea typeface="Arial"/>
                <a:cs typeface="Arial"/>
              </a:rPr>
              <a:t>Может исправить материал</a:t>
            </a:r>
            <a:endParaRPr sz="150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DFD6F4"/>
                </a:solidFill>
                <a:latin typeface="Arial"/>
                <a:ea typeface="Arial"/>
                <a:cs typeface="Arial"/>
              </a:rPr>
              <a:t>или запросить проверку</a:t>
            </a:r>
            <a:endParaRPr sz="150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DFD6F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DFD6F4"/>
                </a:solidFill>
                <a:latin typeface="Arial"/>
                <a:ea typeface="Arial"/>
                <a:cs typeface="Arial"/>
              </a:rPr>
              <a:t>человеком.</a:t>
            </a:r>
            <a:endParaRPr sz="15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CE7CE87-4041-466E-BE97-2213648B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044184"/>
            <a:ext cx="109179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 b="0">
                <a:solidFill>
                  <a:srgbClr val="D0C3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0C3E8"/>
                </a:solidFill>
                <a:latin typeface="Arial"/>
                <a:ea typeface="Arial"/>
                <a:cs typeface="Arial"/>
              </a:rPr>
              <a:t>При недоступности ИИ материал остаётся в ручной очереди.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98092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214654-59E6-4806-89B2-B83E6C80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7B51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6F6C7E-E390-426F-B947-F60CC775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DA5BA"/>
                </a:solidFill>
                <a:latin typeface="Arial"/>
                <a:ea typeface="Arial"/>
                <a:cs typeface="Arial"/>
              </a:rPr>
              <a:t>06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D13BB2-6432-48FF-A76B-613D194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04672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Архитектура</a:t>
            </a:r>
            <a:endParaRPr sz="3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FEBCFF1-3C49-40DB-9A08-5F03337B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72768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Общий сервер доступен через HTTPS.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A16A91-8228-40ED-84CE-EC2637D8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212848"/>
            <a:ext cx="2990088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0160">
            <a:solidFill>
              <a:srgbClr val="EEE8F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1F94CD-F989-4DE1-B398-D034DB04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78024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ПРИЛОЖЕНИЕ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E95EB0-385C-4B62-9397-1E683720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07792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Flutter / Dart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52E4B2-DE0D-4A47-B942-CE134C6C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85616"/>
            <a:ext cx="2551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3F3557"/>
                </a:solidFill>
                <a:latin typeface="Arial"/>
                <a:ea typeface="Arial"/>
                <a:cs typeface="Arial"/>
              </a:rPr>
              <a:t>Android-приложение</a:t>
            </a:r>
            <a:endParaRPr sz="1500"/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3F3557"/>
                </a:solidFill>
                <a:latin typeface="Arial"/>
                <a:ea typeface="Arial"/>
                <a:cs typeface="Arial"/>
              </a:rPr>
              <a:t>Лента, профили, чаты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52D4AC-7597-4262-BEFE-403BAEDC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212848"/>
            <a:ext cx="2990088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7FF"/>
          </a:solidFill>
          <a:ln xmlns:a="http://schemas.openxmlformats.org/drawingml/2006/main" w="10160">
            <a:solidFill>
              <a:srgbClr val="EDE7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DE392B-0A1F-4D3F-BA49-DCA9470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478024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СЕРВЕР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E696A44-3A1B-46A4-B237-08DEB713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907792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FastAPI / Python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0A952F5-C692-4A3F-9523-D9F774E5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85616"/>
            <a:ext cx="2551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3F3557"/>
                </a:solidFill>
                <a:latin typeface="Arial"/>
                <a:ea typeface="Arial"/>
                <a:cs typeface="Arial"/>
              </a:rPr>
              <a:t>Роли, статусы, API</a:t>
            </a:r>
            <a:endParaRPr sz="1500"/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3F3557"/>
                </a:solidFill>
                <a:latin typeface="Arial"/>
                <a:ea typeface="Arial"/>
                <a:cs typeface="Arial"/>
              </a:rPr>
              <a:t>SQLite + медиафайлы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B62B97B-4D51-4E32-99BE-3792549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12848"/>
            <a:ext cx="2990088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0160">
            <a:solidFill>
              <a:srgbClr val="EEE8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2B266D6-7110-46C3-8671-365F399E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478024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ПРОВЕРКА ИИ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C492AF5-A712-4AC6-83EB-2869AEC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907792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DeepSeek</a:t>
            </a:r>
            <a:endParaRPr sz="2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7058447-6BEB-45C7-8508-3CC776A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785616"/>
            <a:ext cx="2551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3F3557"/>
                </a:solidFill>
                <a:latin typeface="Arial"/>
                <a:ea typeface="Arial"/>
                <a:cs typeface="Arial"/>
              </a:rPr>
              <a:t>Через OpenRouter</a:t>
            </a:r>
            <a:endParaRPr sz="1500"/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3F3557"/>
                </a:solidFill>
                <a:latin typeface="Arial"/>
                <a:ea typeface="Arial"/>
                <a:cs typeface="Arial"/>
              </a:rPr>
              <a:t>Проверка публикаций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9C87D99-B9B1-4A64-A2BF-747B53F0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336" y="3145536"/>
            <a:ext cx="594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⇄</a:t>
            </a:r>
            <a:endParaRPr sz="3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FCEA66B-95CA-4136-BAE6-6B7D8879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145536"/>
            <a:ext cx="49377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→</a:t>
            </a:r>
            <a:endParaRPr sz="28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3508B89-28AC-48F5-9C71-FD91D42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66360"/>
            <a:ext cx="10826496" cy="8595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143D"/>
          </a:solidFill>
          <a:ln xmlns:a="http://schemas.openxmlformats.org/drawingml/2006/main" w="10160">
            <a:solidFill>
              <a:srgbClr val="21143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3543874-D2D3-4C32-827F-C609434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4104"/>
            <a:ext cx="301752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и ключ модели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F4E1E30-20E3-4EE4-90E7-7A25BC4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367528"/>
            <a:ext cx="71414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E1D6FB"/>
                </a:solidFill>
                <a:latin typeface="Arial"/>
                <a:ea typeface="Arial"/>
                <a:cs typeface="Arial"/>
              </a:rPr>
              <a:t>Сервер проверяет права. Ключ модели хранится на сервере.</a:t>
            </a:r>
            <a:endParaRPr sz="1300"/>
          </a:p>
          <a:p xmlns:a="http://schemas.openxmlformats.org/drawingml/2006/main">
            <a:pPr marL="0" indent="0" algn="l">
              <a:buNone/>
              <a:defRPr sz="1400" b="0">
                <a:solidFill>
                  <a:srgbClr val="E1D6FB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E1D6FB"/>
                </a:solidFill>
                <a:latin typeface="Arial"/>
                <a:ea typeface="Arial"/>
                <a:cs typeface="Arial"/>
              </a:rPr>
              <a:t>Личные переписки не передаются ИИ.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92BDB91-9A03-4C44-A7EC-77EFDBED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62675"/>
            <a:ext cx="1033272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Для хакатона backend развёрнут на ноутбуке. Далее планируем перенос на VPS.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2307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B9A125-D9FE-43F0-A875-E4866985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7B51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C745A5-EB54-4A4B-A02F-73D58EA8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DA5BA"/>
                </a:solidFill>
                <a:latin typeface="Arial"/>
                <a:ea typeface="Arial"/>
                <a:cs typeface="Arial"/>
              </a:rPr>
              <a:t>07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E1FEDE-F987-4696-B464-27B89EB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04672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Две сборки Android</a:t>
            </a:r>
            <a:endParaRPr sz="3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C3FA79-B88C-4C33-939D-E7E4DCC2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72768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APK доступны в GitHub Releases.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5C64B7-5A82-42C2-91C4-9D004BD4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67128"/>
            <a:ext cx="525780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0160">
            <a:solidFill>
              <a:srgbClr val="EEE8F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2574B89-E8E3-42AD-948D-3408D42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57450"/>
            <a:ext cx="467258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Основная версия</a:t>
            </a:r>
            <a:endParaRPr sz="2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CE3C213-54BD-4E23-8599-8761695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09900"/>
            <a:ext cx="4681728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Общая база и синхронизация.</a:t>
            </a:r>
            <a:endParaRPr sz="135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Проверка публикаций ИИ.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5FD7546-B740-45BD-A86B-4103115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167128"/>
            <a:ext cx="525780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0160">
            <a:solidFill>
              <a:srgbClr val="EEE8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8552CA-AEDB-4C1B-9147-7E14EFA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457450"/>
            <a:ext cx="467258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3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Автономное демо</a:t>
            </a:r>
            <a:endParaRPr sz="2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0C77B34-9160-426A-80BC-71AE9A0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09900"/>
            <a:ext cx="4681728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Работает без сервера.</a:t>
            </a:r>
            <a:endParaRPr sz="135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Сохраняет действия на телефоне.</a:t>
            </a:r>
            <a:endParaRPr sz="13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207E82B-5EC3-42F3-9E92-7A41392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15384"/>
            <a:ext cx="10817352" cy="11978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143D"/>
          </a:solidFill>
          <a:ln xmlns:a="http://schemas.openxmlformats.org/drawingml/2006/main" w="10160">
            <a:solidFill>
              <a:srgbClr val="21143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BA2E74F-2C20-459E-ADAD-8ACBEEAE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315968"/>
            <a:ext cx="11887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42</a:t>
            </a:r>
            <a:endParaRPr sz="3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352D612-EAE6-4E6B-9D05-1524DB0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4425696"/>
            <a:ext cx="157276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0D7F5"/>
                </a:solidFill>
                <a:latin typeface="Arial"/>
                <a:ea typeface="Arial"/>
                <a:cs typeface="Arial"/>
              </a:rPr>
              <a:t>теста</a:t>
            </a:r>
            <a:endParaRPr sz="1500"/>
          </a:p>
          <a:p xmlns:a="http://schemas.openxmlformats.org/drawingml/2006/main">
            <a:pPr marL="0" indent="0" algn="l">
              <a:buNone/>
              <a:defRPr sz="1500" b="0">
                <a:solidFill>
                  <a:srgbClr val="E0D7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0D7F5"/>
                </a:solidFill>
                <a:latin typeface="Arial"/>
                <a:ea typeface="Arial"/>
                <a:cs typeface="Arial"/>
              </a:rPr>
              <a:t>сервера</a:t>
            </a:r>
            <a:endParaRPr sz="15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D9DBEBB-26A9-4AB8-8AF9-A16592B0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443984"/>
            <a:ext cx="18288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98A"/>
          </a:solidFill>
          <a:ln xmlns:a="http://schemas.openxmlformats.org/drawingml/2006/main" w="12700">
            <a:solidFill>
              <a:srgbClr val="6F598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3EEF3C-7825-40C7-BC2F-344C7E13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15968"/>
            <a:ext cx="11887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46</a:t>
            </a:r>
            <a:endParaRPr sz="3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AED439-01DE-4E72-9308-D37BDB95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425696"/>
            <a:ext cx="1874520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E0D7F5"/>
                </a:solidFill>
                <a:latin typeface="Arial"/>
                <a:ea typeface="Arial"/>
                <a:cs typeface="Arial"/>
              </a:rPr>
              <a:t>тестов</a:t>
            </a:r>
            <a:endParaRPr sz="1500"/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E0D7F5"/>
                </a:solidFill>
                <a:latin typeface="Arial"/>
                <a:ea typeface="Arial"/>
                <a:cs typeface="Arial"/>
              </a:rPr>
              <a:t>приложения</a:t>
            </a:r>
            <a:endParaRPr sz="15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57ACF79-1D74-427B-AA65-0810C028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43984"/>
            <a:ext cx="18288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98A"/>
          </a:solidFill>
          <a:ln xmlns:a="http://schemas.openxmlformats.org/drawingml/2006/main" w="12700">
            <a:solidFill>
              <a:srgbClr val="6F598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CBAB36A-8F59-4D5F-864E-470ACDE5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315968"/>
            <a:ext cx="5669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3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196C45A-C328-4496-B2C6-3FAE969E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4425696"/>
            <a:ext cx="175564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E0D7F5"/>
                </a:solidFill>
                <a:latin typeface="Arial"/>
                <a:ea typeface="Arial"/>
                <a:cs typeface="Arial"/>
              </a:rPr>
              <a:t>готовых</a:t>
            </a:r>
            <a:endParaRPr sz="1500"/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E0D7F5"/>
                </a:solidFill>
                <a:latin typeface="Arial"/>
                <a:ea typeface="Arial"/>
                <a:cs typeface="Arial"/>
              </a:rPr>
              <a:t>APK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A997CE8-D577-432C-A78C-E102256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5733288"/>
            <a:ext cx="1069848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77708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77086"/>
                </a:solidFill>
                <a:latin typeface="Arial"/>
                <a:ea typeface="Arial"/>
                <a:cs typeface="Arial"/>
              </a:rPr>
              <a:t>Демоданные: 16 публикаций и 8 вымышленных профилей.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80293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0C6F97-E979-41FF-8CEF-7B37753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92608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20">
                <a:solidFill>
                  <a:srgbClr val="7B51F0"/>
                </a:solidFill>
                <a:latin typeface="Arial"/>
                <a:ea typeface="Arial"/>
                <a:cs typeface="Arial"/>
              </a:rPr>
              <a:t>REDLINE / ПУЛЬС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79961A1-9F57-42C4-8618-B764245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64808"/>
            <a:ext cx="384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DA5BA"/>
                </a:solidFill>
                <a:latin typeface="Arial"/>
                <a:ea typeface="Arial"/>
                <a:cs typeface="Arial"/>
              </a:rPr>
              <a:t>08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8EDE10-0B96-4B81-839E-792A1EB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04672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3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Следующие шаги</a:t>
            </a:r>
            <a:endParaRPr sz="3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5C0282-0568-46D9-A232-D9360413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294436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CABAF2"/>
            </a:solidFill>
            <a:prstDash val="solid"/>
            <a:headEnd type="none"/>
            <a:tailEnd type="non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AE75AF-893C-43F0-9BE6-34FF0A0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69748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A17B7F-47F4-4744-8947-17A7EA9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" y="2834640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F1B603-C145-4344-89E3-339A658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3364992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E7E0C6-026A-4449-930B-4AA7BE2D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94176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ХОСТИНГ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ADBDB3-6669-46A9-ACBE-355012C3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2504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Перенос на VPS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E9D32A9-5EB3-49D3-8183-D899A0A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285292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Постоянный адрес</a:t>
            </a:r>
            <a:endParaRPr sz="140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и работа без личного ПК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997302-9F70-4777-97E3-B500A0D8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69748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66FD17B-ADB2-4D61-938D-EBDE9F35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868" y="2834640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A61762A-1D85-49B4-A14A-6EB78E73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456432"/>
            <a:ext cx="3364992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5105645-B5D5-49CB-854D-D4E07BE9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694176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B51F0"/>
                </a:solidFill>
                <a:latin typeface="Arial"/>
                <a:ea typeface="Arial"/>
                <a:cs typeface="Arial"/>
              </a:rPr>
              <a:t>ТЕСТИРОВАНИЕ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856728-0C63-48F4-B1F0-092BEE9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032504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Со студентами УУНИТ</a:t>
            </a:r>
            <a:endParaRPr sz="2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5FFC960-1DDC-4E65-A999-32D53C5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700016"/>
            <a:ext cx="285292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Проверка сценариев</a:t>
            </a:r>
            <a:endParaRPr sz="140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F3557"/>
                </a:solidFill>
                <a:latin typeface="Arial"/>
                <a:ea typeface="Arial"/>
                <a:cs typeface="Arial"/>
              </a:rPr>
              <a:t>и сбор обратной связи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1BF375C-1A95-4190-8545-0263766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69748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A7199D-D35B-4589-97C1-F53E5906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20" y="2834640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B26532-BA68-4F6E-8682-17C37AB6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456432"/>
            <a:ext cx="3364992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DFF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9E3C1D-D614-4B66-8AA0-01DA989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3694176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7B4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00" b="1">
                <a:solidFill>
                  <a:srgbClr val="7B51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000" b="1">
                <a:solidFill>
                  <a:srgbClr val="7B4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B4FFF"/>
                </a:solidFill>
                <a:latin typeface="Arial"/>
                <a:ea typeface="Arial"/>
                <a:cs typeface="Arial"/>
              </a:rPr>
              <a:t>ОРГАНИЗАТОРЫ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9ADDF70-682C-494A-8774-29DFB884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032504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00" b="1">
                <a:solidFill>
                  <a:srgbClr val="21163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1163F"/>
                </a:solidFill>
                <a:latin typeface="Arial"/>
                <a:ea typeface="Arial"/>
                <a:cs typeface="Arial"/>
              </a:rPr>
              <a:t>Страницы сообществ</a:t>
            </a:r>
            <a:endParaRPr sz="2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679FA9-7784-4F92-B2F9-E50A762D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700016"/>
            <a:ext cx="2852928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116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00" b="0">
                <a:solidFill>
                  <a:srgbClr val="3F35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600" b="0">
                <a:solidFill>
                  <a:srgbClr val="21163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1163F"/>
                </a:solidFill>
                <a:latin typeface="Arial"/>
                <a:ea typeface="Arial"/>
                <a:cs typeface="Arial"/>
              </a:rPr>
              <a:t>Кафедры и студобъединения.</a:t>
            </a:r>
            <a:endParaRPr sz="1400"/>
          </a:p>
          <a:p xmlns:a="http://schemas.openxmlformats.org/drawingml/2006/main">
            <a:pPr marL="0" indent="0" algn="l">
              <a:buNone/>
              <a:defRPr sz="1600" b="0">
                <a:solidFill>
                  <a:srgbClr val="21163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1163F"/>
                </a:solidFill>
                <a:latin typeface="Arial"/>
                <a:ea typeface="Arial"/>
                <a:cs typeface="Arial"/>
              </a:rPr>
              <a:t>Публикации от их имени.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70351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11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5EC8BE-E4A4-4F16-8B72-340E02F5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0"/>
            <a:ext cx="433425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12700">
            <a:solidFill>
              <a:srgbClr val="EEE8F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2A9CFC2-9FFD-4DC9-8857-5369158D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76072"/>
            <a:ext cx="356707" cy="3567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9B94CD-931F-4F75-ACBF-C5F2C5C1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141" y="689915"/>
            <a:ext cx="39466" cy="12902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D0320D4-64CD-437F-8156-0EA3B1C4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57" y="644378"/>
            <a:ext cx="39466" cy="22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21FC15A-8D9C-45E0-96C1-5AAD5D0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73" y="614020"/>
            <a:ext cx="39466" cy="2808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714386-B608-4918-8549-B2722FA3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89" y="659557"/>
            <a:ext cx="39466" cy="18973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51F0"/>
          </a:solidFill>
          <a:ln xmlns:a="http://schemas.openxmlformats.org/drawingml/2006/main" w="12700">
            <a:solidFill>
              <a:srgbClr val="7B51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AD922A-08C5-42BA-8ED3-C87574E5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612648"/>
            <a:ext cx="368503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D6C6FA"/>
                </a:solidFill>
                <a:latin typeface="Arial"/>
                <a:ea typeface="Arial"/>
                <a:cs typeface="Arial"/>
              </a:rPr>
              <a:t>REDLINE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72B4D9-F9A0-4A26-97C6-129EC83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435608"/>
            <a:ext cx="651967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ПУЛЬС</a:t>
            </a:r>
            <a:endParaRPr sz="5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B6783CE-25C3-442D-BB34-A62BE56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962275"/>
            <a:ext cx="5879592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 b="1">
                <a:solidFill>
                  <a:srgbClr val="AA91E8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A91E8"/>
                </a:solidFill>
                <a:latin typeface="Arial"/>
                <a:ea typeface="Arial"/>
                <a:cs typeface="Arial"/>
              </a:rPr>
              <a:t>Команда RedLine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68BEF0-6D32-466F-B40E-439F98C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14725"/>
            <a:ext cx="6684264" cy="2152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E9E1F7"/>
                </a:solidFill>
                <a:latin typeface="Arial"/>
                <a:ea typeface="Arial"/>
                <a:cs typeface="Arial"/>
              </a:rPr>
              <a:t>Денисов Кирилл Сергеевич, капитан</a:t>
            </a:r>
            <a:endParaRPr sz="1260"/>
          </a:p>
          <a:p xmlns:a="http://schemas.openxmlformats.org/drawingml/2006/main">
            <a:pPr marL="0" indent="0"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E9E1F7"/>
                </a:solidFill>
                <a:latin typeface="Arial"/>
                <a:ea typeface="Arial"/>
                <a:cs typeface="Arial"/>
              </a:rPr>
              <a:t>Голованов Алексей Константинович</a:t>
            </a:r>
            <a:endParaRPr sz="1260"/>
          </a:p>
          <a:p xmlns:a="http://schemas.openxmlformats.org/drawingml/2006/main">
            <a:pPr marL="0" indent="0"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E9E1F7"/>
                </a:solidFill>
                <a:latin typeface="Arial"/>
                <a:ea typeface="Arial"/>
                <a:cs typeface="Arial"/>
              </a:rPr>
              <a:t>Гайнуллин Айнур Ринатович</a:t>
            </a:r>
            <a:endParaRPr sz="1260"/>
          </a:p>
          <a:p xmlns:a="http://schemas.openxmlformats.org/drawingml/2006/main">
            <a:pPr marL="0" indent="0"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E9E1F7"/>
                </a:solidFill>
                <a:latin typeface="Arial"/>
                <a:ea typeface="Arial"/>
                <a:cs typeface="Arial"/>
              </a:rPr>
              <a:t>Габдулина Дарья Спартаковна</a:t>
            </a:r>
            <a:endParaRPr sz="1260"/>
          </a:p>
          <a:p xmlns:a="http://schemas.openxmlformats.org/drawingml/2006/main">
            <a:pPr marL="0" indent="0" algn="l">
              <a:buNone/>
              <a:defRPr sz="1750" b="0">
                <a:solidFill>
                  <a:srgbClr val="E9E1F7"/>
                </a:solidFill>
                <a:latin typeface="Arial"/>
                <a:ea typeface="Arial"/>
                <a:cs typeface="Arial"/>
              </a:defRPr>
            </a:pPr>
            <a:r>
              <a:rPr sz="1750" b="0">
                <a:solidFill>
                  <a:srgbClr val="E9E1F7"/>
                </a:solidFill>
                <a:latin typeface="Arial"/>
                <a:ea typeface="Arial"/>
                <a:cs typeface="Arial"/>
              </a:rPr>
              <a:t>Хисматуллин Тимур Ильнурович</a:t>
            </a:r>
            <a:endParaRPr sz="126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7B5F4A-E6AF-49CF-8F80-58F5ED44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950976"/>
            <a:ext cx="34198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GitHub</a:t>
            </a:r>
            <a:endParaRPr sz="1400"/>
          </a:p>
        </p:txBody>
      </p:sp>
      <p:pic>
        <p:nvPicPr>
          <p:cNvPr id="14" name="Image 0">
            <a:extLst xmlns:a="http://schemas.openxmlformats.org/drawingml/2006/main">
              <a:ext uri="{FF2B5EF4-FFF2-40B4-BE49-F238E27FC236}">
                <a16:creationId xmlns:a16="http://schemas.microsoft.com/office/drawing/2014/main" id="{4B14645C-ABA0-4EE2-9B4C-D82D67CC4D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5287115714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2208" y="1554480"/>
            <a:ext cx="3054096" cy="3054096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453E629-4B67-441C-ADBB-B9EEA10D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809744"/>
            <a:ext cx="32918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Готовые APK</a:t>
            </a:r>
            <a:endParaRPr sz="2100"/>
          </a:p>
          <a:p xmlns:a="http://schemas.openxmlformats.org/drawingml/2006/main">
            <a:pPr marL="0" indent="0" algn="l">
              <a:buNone/>
              <a:defRPr sz="2100" b="1">
                <a:solidFill>
                  <a:srgbClr val="2114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143D"/>
                </a:solidFill>
                <a:latin typeface="Arial"/>
                <a:ea typeface="Arial"/>
                <a:cs typeface="Arial"/>
              </a:rPr>
              <a:t>и исходный код</a:t>
            </a:r>
            <a:endParaRPr sz="2100"/>
          </a:p>
        </p:txBody>
      </p:sp>
      <p:sp>
        <p:nvSpPr>
          <p:cNvPr id="16" name="Text 13">
            <a:hlinkClick xmlns:r="http://schemas.openxmlformats.org/officeDocument/2006/relationships" xmlns:a="http://schemas.openxmlformats.org/drawingml/2006/main" r:id="Re000c5ae3c924c10"/>
            <a:extLst xmlns:a="http://schemas.openxmlformats.org/drawingml/2006/main">
              <a:ext uri="{FF2B5EF4-FFF2-40B4-BE49-F238E27FC236}">
                <a16:creationId xmlns:a16="http://schemas.microsoft.com/office/drawing/2014/main" id="{EB670A4E-4E44-4C80-B77A-35C446BF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593445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u="sng">
                <a:solidFill>
                  <a:srgbClr val="7B51F0"/>
                </a:solidFill>
                <a:latin typeface="Arial"/>
                <a:ea typeface="Arial"/>
                <a:cs typeface="Arial"/>
                <a:hlinkClick xmlns:r="http://schemas.openxmlformats.org/officeDocument/2006/relationships" r:id="Rb652ca3af9194c39"/>
              </a:rPr>
              <a:t>github.com/code7-8/pulse-uunit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9509AE6-2BE1-472F-9B3B-E0866781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712" y="6473952"/>
            <a:ext cx="3200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D708F"/>
                </a:solidFill>
                <a:latin typeface="Arial"/>
                <a:ea typeface="Arial"/>
                <a:cs typeface="Arial"/>
              </a:rPr>
              <a:t>09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764434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2026-10-26T04:00:02.9510000Z</dcterms:created>
  <dcterms:modified xsi:type="dcterms:W3CDTF">2026-10-26T04:00:02.9510000Z</dcterms:modified>
</coreProperties>
</file>